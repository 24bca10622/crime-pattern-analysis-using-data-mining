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164592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92640" y="6355080"/>
            <a:ext cx="2496312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987552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AFCFE1"/>
                </a:solidFill>
                <a:latin typeface="Aptos"/>
              </a:defRPr>
            </a:pPr>
            <a:r>
              <a:t>FINAL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332720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CRIME PATTERN ANALYSIS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USING DATA MINING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987552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DCE6F0"/>
                </a:solidFill>
                <a:latin typeface="Aptos"/>
              </a:defRPr>
            </a:pPr>
            <a:r>
              <a:t>A demonstration of clustering, classification and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424160" cy="101771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Aarti [</a:t>
            </a:r>
            <a:r>
              <a:rPr lang="en-US" dirty="0"/>
              <a:t>24bca10622</a:t>
            </a:r>
            <a:r>
              <a:rPr dirty="0"/>
              <a:t>]</a:t>
            </a:r>
            <a:r>
              <a:rPr lang="en-US" dirty="0"/>
              <a:t>, Rahul[24bca10173]</a:t>
            </a:r>
            <a:endParaRPr dirty="0"/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Department: [</a:t>
            </a:r>
            <a:r>
              <a:rPr lang="en-US" dirty="0"/>
              <a:t>UIC</a:t>
            </a:r>
            <a:r>
              <a:rPr dirty="0"/>
              <a:t>] | Chandigarh University</a:t>
            </a:r>
            <a:endParaRPr lang="en-US" dirty="0"/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Submitted to- Mr. Amit </a:t>
            </a:r>
            <a:r>
              <a:rPr lang="en-IN" dirty="0" err="1"/>
              <a:t>kumar</a:t>
            </a:r>
            <a:r>
              <a:rPr lang="en-IN" dirty="0"/>
              <a:t> </a:t>
            </a:r>
            <a:r>
              <a:rPr lang="en-IN" dirty="0" err="1"/>
              <a:t>singh</a:t>
            </a:r>
            <a:r>
              <a:rPr lang="en-IN" dirty="0"/>
              <a:t> (Ass. Professor)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492240" cy="43891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Explores crime-like structured records using data mining.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Combines K-Means, Decision Tree and Linear Regression.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Implemented in Python using Google Colab.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Uses graphs and evaluation metrics to summarize outputs.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Current experiment uses synthetic data, not real police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508760"/>
            <a:ext cx="356616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8392" y="1618488"/>
            <a:ext cx="323697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Main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8392" y="2039112"/>
            <a:ext cx="3236976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Turn tabular records into understandable summaries.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926080"/>
            <a:ext cx="356616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3035808"/>
            <a:ext cx="323697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3456432"/>
            <a:ext cx="3236976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Python, pandas, NumPy, scikit-learn, Matplotlib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343400"/>
            <a:ext cx="356616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4453128"/>
            <a:ext cx="323697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4873752"/>
            <a:ext cx="3236976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Plots, cluster summaries and CSV result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81328"/>
            <a:ext cx="4791455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4791455" cy="1234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Crime-related tables can be difficult to inspect manually when records have multiple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12064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81328"/>
            <a:ext cx="4791455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01952"/>
            <a:ext cx="4791455" cy="1234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Data mining can group observations and evaluate simple predictive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69848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2B5BA3"/>
                </a:solidFill>
                <a:latin typeface="Aptos"/>
              </a:defRPr>
            </a:pPr>
            <a:r>
              <a:t>Project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10424160" cy="10058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28303C"/>
                </a:solidFill>
                <a:latin typeface="Aptos"/>
              </a:defRPr>
            </a:pPr>
            <a:r>
              <a:t>How can selected data mining methods be combined in one reproducible workflow and interpreted responsibly?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646E7D"/>
                </a:solidFill>
                <a:latin typeface="Aptos"/>
              </a:defRPr>
            </a:pPr>
            <a:r>
              <a:t>Scope: educational prototype, not an operational policing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6858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Review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80160"/>
            <a:ext cx="713232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8303C"/>
                </a:solidFill>
                <a:latin typeface="Aptos"/>
              </a:defRPr>
            </a:pPr>
            <a:r>
              <a:t>Understand prior approaches to crime data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6858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67712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Prepare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67712"/>
            <a:ext cx="713232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8303C"/>
                </a:solidFill>
                <a:latin typeface="Aptos"/>
              </a:defRPr>
            </a:pPr>
            <a:r>
              <a:t>Use a clearly labelled synthetic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55264"/>
            <a:ext cx="6858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55264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Apply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55264"/>
            <a:ext cx="713232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8303C"/>
                </a:solidFill>
                <a:latin typeface="Aptos"/>
              </a:defRPr>
            </a:pPr>
            <a:r>
              <a:t>Demonstrate clustering, classification and regression.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42816"/>
            <a:ext cx="6858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42816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Evaluate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42816"/>
            <a:ext cx="713232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8303C"/>
                </a:solidFill>
                <a:latin typeface="Aptos"/>
              </a:defRPr>
            </a:pPr>
            <a:r>
              <a:t>Review metrics, summaries and visualizations.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30368"/>
            <a:ext cx="6858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230368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Document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30368"/>
            <a:ext cx="713232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8303C"/>
                </a:solidFill>
                <a:latin typeface="Aptos"/>
              </a:defRPr>
            </a:pPr>
            <a:r>
              <a:t>Explain what the results can and cannot show.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2B5BA3"/>
                </a:solidFill>
                <a:latin typeface="Aptos"/>
              </a:defRPr>
            </a:pPr>
            <a:r>
              <a:t>Prior work explores complementary approaches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309981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Crime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3099816" cy="1325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Yu et al. (2011) explored data mining techniques for crime forecasting.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38528"/>
            <a:ext cx="309981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Crime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59152"/>
            <a:ext cx="3099816" cy="1325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Sathyadevan et al. (2014) discussed crime analysis and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09981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Pattern survey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59152"/>
            <a:ext cx="3099816" cy="1325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Thongsatapornwatana (2016) surveyed crime-pattern analysis techniques.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4251960"/>
            <a:ext cx="3429000" cy="12801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4361688"/>
            <a:ext cx="309981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Pattern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4782312"/>
            <a:ext cx="3099816" cy="68579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Yadav et al. (2017) presented detection, analysis and prediction.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51960"/>
            <a:ext cx="3429000" cy="12801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4361688"/>
            <a:ext cx="309981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782312"/>
            <a:ext cx="3099816" cy="68579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Combine three methods in a small learning workflow.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646E7D"/>
                </a:solidFill>
                <a:latin typeface="Aptos"/>
              </a:defRPr>
            </a:pPr>
            <a:r>
              <a:t>Full references are listed on the final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57400"/>
            <a:ext cx="192024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7373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7373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6264A"/>
                </a:solidFill>
                <a:latin typeface="Aptos"/>
              </a:defRPr>
            </a:pPr>
            <a:r>
              <a:t>Synthetic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7373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8303C"/>
                </a:solidFill>
                <a:latin typeface="Aptos"/>
              </a:defRPr>
            </a:pPr>
            <a:r>
              <a:t>360 demo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51760"/>
            <a:ext cx="3657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E6913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2057400"/>
            <a:ext cx="192024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98648" y="2194560"/>
            <a:ext cx="17373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651760"/>
            <a:ext cx="17373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6264A"/>
                </a:solidFill>
                <a:latin typeface="Aptos"/>
              </a:defRPr>
            </a:pPr>
            <a:r>
              <a:t>Prepare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200400"/>
            <a:ext cx="17373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8303C"/>
                </a:solidFill>
                <a:latin typeface="Aptos"/>
              </a:defRPr>
            </a:pPr>
            <a:r>
              <a:t>Load and 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51760"/>
            <a:ext cx="3657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E6913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2057400"/>
            <a:ext cx="192024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48655" y="2194560"/>
            <a:ext cx="17373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5" y="2651760"/>
            <a:ext cx="17373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6264A"/>
                </a:solidFill>
                <a:latin typeface="Aptos"/>
              </a:defRPr>
            </a:pPr>
            <a:r>
              <a:t>Run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5" y="3200400"/>
            <a:ext cx="17373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8303C"/>
                </a:solidFill>
                <a:latin typeface="Aptos"/>
              </a:defRPr>
            </a:pPr>
            <a:r>
              <a:t>K-Means • Tree •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2651760"/>
            <a:ext cx="3657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E6913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3" y="2057400"/>
            <a:ext cx="192024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98663" y="2194560"/>
            <a:ext cx="17373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3" y="2651760"/>
            <a:ext cx="17373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6264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3" y="3200400"/>
            <a:ext cx="17373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8303C"/>
                </a:solidFill>
                <a:latin typeface="Aptos"/>
              </a:defRPr>
            </a:pPr>
            <a:r>
              <a:t>Metrics and summaries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3" y="2651760"/>
            <a:ext cx="3657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E6913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57232" y="2057400"/>
            <a:ext cx="192024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48672" y="2194560"/>
            <a:ext cx="17373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A9D8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651760"/>
            <a:ext cx="173736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6264A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3200400"/>
            <a:ext cx="17373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8303C"/>
                </a:solidFill>
                <a:latin typeface="Aptos"/>
              </a:defRPr>
            </a:pPr>
            <a:r>
              <a:t>Plots and CSV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663440"/>
            <a:ext cx="10607040" cy="6400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2B5BA3"/>
                </a:solidFill>
                <a:latin typeface="Aptos"/>
              </a:defRPr>
            </a:pPr>
            <a:r>
              <a:t>Tools: Python • pandas • NumPy • scikit-learn • Matplotlib • Google Colab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646E7D"/>
                </a:solidFill>
                <a:latin typeface="Aptos"/>
              </a:defRPr>
            </a:pPr>
            <a:r>
              <a:t>Overleaf is used to format the paper from the LaTeX source (main.tex).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Algorithms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520440" cy="347472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319125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47672"/>
            <a:ext cx="3191256" cy="2880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Unsupervised learning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Groups observations by similarity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Output: cluster assignments and summaries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347472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527048"/>
            <a:ext cx="319125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47672"/>
            <a:ext cx="3191256" cy="2880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Supervised classification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Learns decision rules from labelled examples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Output: predicted classes and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520440" cy="347472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1527048"/>
            <a:ext cx="319125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47672"/>
            <a:ext cx="3191256" cy="2880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Estimates a numerical target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Fits a linear relationship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• Output: predictions, MAE, RMSE and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1051560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646E7D"/>
                </a:solidFill>
                <a:latin typeface="Aptos"/>
              </a:defRPr>
            </a:pPr>
            <a:r>
              <a:t>Each method answers a different question; none alone proves a real-world crime pattern.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Dataset &amp;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81328"/>
            <a:ext cx="483717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4837176" cy="1234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Synthetic dataset containing 360 observations for a controlled demonstration.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16636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81328"/>
            <a:ext cx="483717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01952"/>
            <a:ext cx="4837176" cy="1234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crime_analysis.py loads data, runs the methods and saves outputs.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058400" cy="2011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8303C"/>
                </a:solidFill>
                <a:latin typeface="Aptos"/>
              </a:defRPr>
            </a:pPr>
            <a:r>
              <a:t>•  Input: synthetic_crime_data.csv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28303C"/>
                </a:solidFill>
                <a:latin typeface="Aptos"/>
              </a:defRPr>
            </a:pPr>
            <a:r>
              <a:t>•  Libraries: pandas, NumPy, Matplotlib and scikit-learn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28303C"/>
                </a:solidFill>
                <a:latin typeface="Aptos"/>
              </a:defRPr>
            </a:pPr>
            <a:r>
              <a:t>•  Outputs: graphs and CSV summaries; confirm exact paths in Colab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E69138"/>
                </a:solidFill>
                <a:latin typeface="Aptos"/>
              </a:defRPr>
            </a:pPr>
            <a:r>
              <a:t>Synthetic records are not actual police data and cannot establish real crime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Results: Classification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2B5BA3"/>
                </a:solidFill>
                <a:latin typeface="Aptos"/>
              </a:defRPr>
            </a:pPr>
            <a:r>
              <a:t>Recorded example metrics — verify against your latest Colab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5544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8303C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65376"/>
            <a:ext cx="7589520" cy="29260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0" y="1865376"/>
            <a:ext cx="6493593" cy="2926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1320" y="1810512"/>
            <a:ext cx="100584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500" b="1">
                <a:solidFill>
                  <a:srgbClr val="16264A"/>
                </a:solidFill>
                <a:latin typeface="Aptos"/>
              </a:defRPr>
            </a:pPr>
            <a:r>
              <a:t>85.56%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5544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8303C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42616"/>
            <a:ext cx="7589520" cy="29260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2642616"/>
            <a:ext cx="5948665" cy="2926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61320" y="2587752"/>
            <a:ext cx="100584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500" b="1">
                <a:solidFill>
                  <a:srgbClr val="16264A"/>
                </a:solidFill>
                <a:latin typeface="Aptos"/>
              </a:defRPr>
            </a:pPr>
            <a:r>
              <a:t>78.38%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5544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8303C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419856"/>
            <a:ext cx="7589520" cy="29260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0" y="3419856"/>
            <a:ext cx="6473101" cy="2926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61320" y="3364992"/>
            <a:ext cx="100584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500" b="1">
                <a:solidFill>
                  <a:srgbClr val="16264A"/>
                </a:solidFill>
                <a:latin typeface="Aptos"/>
              </a:defRPr>
            </a:pPr>
            <a:r>
              <a:t>85.29%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5544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8303C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197096"/>
            <a:ext cx="7589520" cy="29260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4197096"/>
            <a:ext cx="6199878" cy="2926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61320" y="4142232"/>
            <a:ext cx="100584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500" b="1">
                <a:solidFill>
                  <a:srgbClr val="16264A"/>
                </a:solidFill>
                <a:latin typeface="Aptos"/>
              </a:defRPr>
            </a:pPr>
            <a:r>
              <a:t>81.69%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1051560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69138"/>
                </a:solidFill>
                <a:latin typeface="Aptos"/>
              </a:defRPr>
            </a:pPr>
            <a:r>
              <a:t>These values describe the synthetic-data example only, not real-world predictive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Results: Regression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38328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305409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39112"/>
            <a:ext cx="3054096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2.5135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Average absolute prediction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618488"/>
            <a:ext cx="305409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39112"/>
            <a:ext cx="3054096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3.1899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Penalizes larger prediction errors more.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08760"/>
            <a:ext cx="338328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1618488"/>
            <a:ext cx="305409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039112"/>
            <a:ext cx="3054096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0.5567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Unitless fit summary for evaluated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10515600" cy="10972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Interpretation depends on the target variable and evaluation setup. Verify these recorded values against the current script output.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E69138"/>
                </a:solidFill>
                <a:latin typeface="Aptos"/>
              </a:defRPr>
            </a:pPr>
            <a:r>
              <a:t>Synthetic-data metrics are illustrative, not a real-world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Limitations &amp; Responsible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4805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Dataset is synthetic and does not represent actual police records.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Results can change with different features, labels and evaluation setups.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Metrics must be checked against the current code output.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Real-data research needs a verified source, permission, cleaning and proper testing.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28303C"/>
                </a:solidFill>
                <a:latin typeface="Aptos"/>
              </a:defRPr>
            </a:pPr>
            <a:r>
              <a:t>•  Do not use this prototype to target individuals or make operational policing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2B5BA3"/>
                </a:solidFill>
                <a:latin typeface="Aptos"/>
              </a:defRPr>
            </a:pPr>
            <a:r>
              <a:t>Responsible interpretation is part of the project methodology.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6264A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972800" cy="320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22402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527048"/>
            <a:ext cx="474573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47672"/>
            <a:ext cx="4745736" cy="1645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Demonstrates an end-to-end workflow using clustering, classification, regression and visual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74920" cy="22402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527048"/>
            <a:ext cx="4745736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47672"/>
            <a:ext cx="4745736" cy="1645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8303C"/>
                </a:solidFill>
                <a:latin typeface="Aptos"/>
              </a:defRPr>
            </a:pPr>
            <a:r>
              <a:t>Use a verified public dataset, improve validation, compare baselines and examine possible bias.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424160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Key takeaway: data mining can organize data, but trustworthy conclusions require suitable data and careful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2A9D8F"/>
                </a:solidFill>
                <a:latin typeface="Aptos"/>
              </a:defRPr>
            </a:pPr>
            <a:r>
              <a:rPr dirty="0"/>
              <a:t>THANK YOU 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795</Words>
  <Application>Microsoft Office PowerPoint</Application>
  <PresentationFormat>Widescreen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2026-10-27T14:33:42Z</dcterms:modified>
  <cp:category/>
</cp:coreProperties>
</file>